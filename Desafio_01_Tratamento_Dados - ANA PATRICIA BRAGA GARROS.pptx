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02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169D5"/>
          </a:solidFill>
          <a:ln w="12700">
            <a:solidFill>
              <a:srgbClr val="2169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Produtividade em Telecomunicações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92354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Transformando dados operacionais em informações para apoiar decisões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Desafio 01  •  Ciência de Dados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572768"/>
            <a:ext cx="6492240" cy="333756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5E3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801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16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DESAFIO 01  - TRATAMENTO DE DADOS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41832" y="2304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1832" y="2596896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 de produtividade e cumprimento de prazos em atividades de telecomunicações.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41832" y="34747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Usuários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1832" y="3767328"/>
            <a:ext cx="5989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Supervisores, coordenadores e gestores operacionais.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24928" y="1572768"/>
            <a:ext cx="4005072" cy="3337560"/>
          </a:xfrm>
          <a:prstGeom prst="roundRect">
            <a:avLst>
              <a:gd name="adj" fmla="val 4110"/>
            </a:avLst>
          </a:prstGeom>
          <a:solidFill>
            <a:srgbClr val="E9F2FF"/>
          </a:solidFill>
          <a:ln w="12700">
            <a:solidFill>
              <a:srgbClr val="D5E3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54112" y="1947672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16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ESSE TEMA?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54112" y="2560320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identificar atrasos, comparar indicadores e apoiar decisões de melhoria operacional.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68680" y="5349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fictícia  •  Google Sheets  •  2026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5769864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Patrícia Braga Garros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169D5"/>
          </a:solidFill>
          <a:ln w="12700">
            <a:solidFill>
              <a:srgbClr val="2169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base desorganizada aos dados confiáveis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92354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Organização, limpeza e padronização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Desafio 01  •  Ciência de Dados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" y="1444752"/>
            <a:ext cx="3337560" cy="566928"/>
          </a:xfrm>
          <a:prstGeom prst="roundRect">
            <a:avLst>
              <a:gd name="adj" fmla="val 24194"/>
            </a:avLst>
          </a:prstGeom>
          <a:solidFill>
            <a:srgbClr val="E9F2FF"/>
          </a:solidFill>
          <a:ln w="12700">
            <a:solidFill>
              <a:srgbClr val="D5E3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6002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6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CRUA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41064" y="154533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216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4507992" y="1444752"/>
            <a:ext cx="3337560" cy="566928"/>
          </a:xfrm>
          <a:prstGeom prst="roundRect">
            <a:avLst>
              <a:gd name="adj" fmla="val 24194"/>
            </a:avLst>
          </a:prstGeom>
          <a:solidFill>
            <a:srgbClr val="E9F2FF"/>
          </a:solidFill>
          <a:ln w="12700">
            <a:solidFill>
              <a:srgbClr val="D5E3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6002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6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LIMPEZA + PADRONIZAÇÃO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72984" y="154533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216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8439912" y="1444752"/>
            <a:ext cx="3337560" cy="566928"/>
          </a:xfrm>
          <a:prstGeom prst="roundRect">
            <a:avLst>
              <a:gd name="adj" fmla="val 24194"/>
            </a:avLst>
          </a:prstGeom>
          <a:solidFill>
            <a:srgbClr val="E9F2FF"/>
          </a:solidFill>
          <a:ln w="12700">
            <a:solidFill>
              <a:srgbClr val="D5E3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58784" y="16002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6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TRATADOS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2267712"/>
            <a:ext cx="3886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Principais correções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58368" y="2706624"/>
            <a:ext cx="4114800" cy="32461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 convertidas para DD/MM/AAAA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Equipes, serviços e status padronizados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duplicidade e linhas vazias removidas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ausentes preservados e sinalizados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Filtros, listas suspensas e validação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37760" y="2423160"/>
            <a:ext cx="3136392" cy="3246120"/>
          </a:xfrm>
          <a:prstGeom prst="roundRect">
            <a:avLst>
              <a:gd name="adj" fmla="val 4373"/>
            </a:avLst>
          </a:prstGeom>
          <a:solidFill>
            <a:srgbClr val="EDF5FF"/>
          </a:solidFill>
          <a:ln w="19050">
            <a:solidFill>
              <a:srgbClr val="8AB6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9" name="Text 17"/>
          <p:cNvSpPr/>
          <p:nvPr/>
        </p:nvSpPr>
        <p:spPr>
          <a:xfrm>
            <a:off x="6304788" y="349758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900" dirty="0">
                <a:solidFill>
                  <a:srgbClr val="216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▧</a:t>
            </a:r>
            <a:endParaRPr lang="en-US" sz="2900" dirty="0"/>
          </a:p>
        </p:txBody>
      </p:sp>
      <p:sp>
        <p:nvSpPr>
          <p:cNvPr id="20" name="Text 18"/>
          <p:cNvSpPr/>
          <p:nvPr/>
        </p:nvSpPr>
        <p:spPr>
          <a:xfrm>
            <a:off x="5138928" y="3954780"/>
            <a:ext cx="2734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0" y="2423160"/>
            <a:ext cx="3136392" cy="3246120"/>
          </a:xfrm>
          <a:prstGeom prst="roundRect">
            <a:avLst>
              <a:gd name="adj" fmla="val 4373"/>
            </a:avLst>
          </a:prstGeom>
          <a:solidFill>
            <a:srgbClr val="EDF5FF"/>
          </a:solidFill>
          <a:ln w="19050">
            <a:solidFill>
              <a:srgbClr val="8AB6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96628" y="349758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900" dirty="0">
                <a:solidFill>
                  <a:srgbClr val="216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▧</a:t>
            </a:r>
            <a:endParaRPr lang="en-US" sz="2900" dirty="0"/>
          </a:p>
        </p:txBody>
      </p:sp>
      <p:sp>
        <p:nvSpPr>
          <p:cNvPr id="23" name="Text 21"/>
          <p:cNvSpPr/>
          <p:nvPr/>
        </p:nvSpPr>
        <p:spPr>
          <a:xfrm>
            <a:off x="8430768" y="3954780"/>
            <a:ext cx="2734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500981D4-8FC5-FE38-DCF0-789DACCCFA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302" t="4041" r="4302" b="-4041"/>
          <a:stretch/>
        </p:blipFill>
        <p:spPr>
          <a:xfrm>
            <a:off x="4890140" y="2528505"/>
            <a:ext cx="3136392" cy="3195638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D8A7F5C1-5902-A5B5-56D1-388F29E61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471" y="2440235"/>
            <a:ext cx="2971240" cy="32654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169D5"/>
          </a:solidFill>
          <a:ln w="12700">
            <a:solidFill>
              <a:srgbClr val="2169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Transformando registros em indicadores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92354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Manipulação dos dados, perguntas e funções utilizadas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Desafio 01  •  Ciência de Dados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08176"/>
            <a:ext cx="548640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E3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36776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Perguntas respondidas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41248" y="2103120"/>
            <a:ext cx="4956048" cy="203911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237490" indent="-237490">
              <a:buSzPct val="100000"/>
              <a:buChar char="•"/>
            </a:pPr>
            <a:r>
              <a:rPr lang="en-US" sz="17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Quantas atividades foram concluídas?</a:t>
            </a:r>
            <a:endParaRPr lang="en-US" sz="1700" dirty="0"/>
          </a:p>
          <a:p>
            <a:pPr marL="237490" indent="-237490">
              <a:buSzPct val="100000"/>
              <a:buChar char="•"/>
            </a:pPr>
            <a:r>
              <a:rPr lang="en-US" sz="17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 foi o cumprimento do prazo?</a:t>
            </a:r>
            <a:endParaRPr lang="en-US" sz="1700" dirty="0"/>
          </a:p>
          <a:p>
            <a:pPr marL="237490" indent="-237490">
              <a:buSzPct val="100000"/>
              <a:buChar char="•"/>
            </a:pPr>
            <a:r>
              <a:rPr lang="en-US" sz="17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 equipe apresentou maior atraso?</a:t>
            </a:r>
            <a:endParaRPr lang="en-US" sz="1700" dirty="0"/>
          </a:p>
          <a:p>
            <a:pPr marL="237490" indent="-237490">
              <a:buSzPct val="100000"/>
              <a:buChar char="•"/>
            </a:pPr>
            <a:r>
              <a:rPr lang="en-US" sz="17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 serviço concentrou atrasos?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54496" y="1408176"/>
            <a:ext cx="5321808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E3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63677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Fórmulas utilizadas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519672" y="2212848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216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CONT.SE   •   CONT.SES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216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  •   OU   •   SOMA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216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CONT.VALORES   •   SEERRO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30936" y="4645152"/>
            <a:ext cx="2706624" cy="1252728"/>
          </a:xfrm>
          <a:prstGeom prst="roundRect">
            <a:avLst>
              <a:gd name="adj" fmla="val 10949"/>
            </a:avLst>
          </a:prstGeom>
          <a:solidFill>
            <a:srgbClr val="E9F2FF"/>
          </a:solidFill>
          <a:ln w="12700">
            <a:solidFill>
              <a:srgbClr val="D5E3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473659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16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4088" y="5257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Atividades registradas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38728" y="4645152"/>
            <a:ext cx="2706624" cy="1252728"/>
          </a:xfrm>
          <a:prstGeom prst="roundRect">
            <a:avLst>
              <a:gd name="adj" fmla="val 10949"/>
            </a:avLst>
          </a:prstGeom>
          <a:solidFill>
            <a:srgbClr val="E9F2FF"/>
          </a:solidFill>
          <a:ln w="12700">
            <a:solidFill>
              <a:srgbClr val="D5E3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473659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16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611880" y="5257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Concluídas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46520" y="4645152"/>
            <a:ext cx="2706624" cy="1252728"/>
          </a:xfrm>
          <a:prstGeom prst="roundRect">
            <a:avLst>
              <a:gd name="adj" fmla="val 10949"/>
            </a:avLst>
          </a:prstGeom>
          <a:solidFill>
            <a:srgbClr val="E9F2FF"/>
          </a:solidFill>
          <a:ln w="12700">
            <a:solidFill>
              <a:srgbClr val="D5E3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73659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16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519672" y="5257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Atrasadas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54312" y="4645152"/>
            <a:ext cx="2706624" cy="1252728"/>
          </a:xfrm>
          <a:prstGeom prst="roundRect">
            <a:avLst>
              <a:gd name="adj" fmla="val 10949"/>
            </a:avLst>
          </a:prstGeom>
          <a:solidFill>
            <a:srgbClr val="E9F2FF"/>
          </a:solidFill>
          <a:ln w="12700">
            <a:solidFill>
              <a:srgbClr val="D5E3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45752" y="473659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16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51,52%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427464" y="5257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Cumprimento do prazo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6062472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Taxa calculada somente sobre as 33 atividades concluídas com prazo avaliável.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169D5"/>
          </a:solidFill>
          <a:ln w="12700">
            <a:solidFill>
              <a:srgbClr val="2169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Principais resultados da análise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92354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Gráficos do Google Sheets e interpretação dos indicadores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Desafio 01  •  Ciência de Dados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25712" y="438912"/>
            <a:ext cx="2423160" cy="822960"/>
          </a:xfrm>
          <a:prstGeom prst="roundRect">
            <a:avLst>
              <a:gd name="adj" fmla="val 16667"/>
            </a:avLst>
          </a:prstGeom>
          <a:solidFill>
            <a:srgbClr val="E9F2FF"/>
          </a:solidFill>
          <a:ln w="12700">
            <a:solidFill>
              <a:srgbClr val="D5E3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1160" y="54864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6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51,52%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235440" y="978408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Cumprimento do prazo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1481328"/>
            <a:ext cx="5330952" cy="3090672"/>
          </a:xfrm>
          <a:prstGeom prst="roundRect">
            <a:avLst>
              <a:gd name="adj" fmla="val 4438"/>
            </a:avLst>
          </a:prstGeom>
          <a:solidFill>
            <a:srgbClr val="EDF5FF"/>
          </a:solidFill>
          <a:ln w="19050">
            <a:solidFill>
              <a:srgbClr val="8AB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86100" y="247802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900" dirty="0">
                <a:solidFill>
                  <a:srgbClr val="216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▧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822960" y="2935224"/>
            <a:ext cx="4928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1481328"/>
            <a:ext cx="5330952" cy="3090672"/>
          </a:xfrm>
          <a:prstGeom prst="roundRect">
            <a:avLst>
              <a:gd name="adj" fmla="val 4438"/>
            </a:avLst>
          </a:prstGeom>
          <a:solidFill>
            <a:srgbClr val="EDF5FF"/>
          </a:solidFill>
          <a:ln w="19050">
            <a:solidFill>
              <a:srgbClr val="8AB6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2228" y="247802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900" dirty="0">
                <a:solidFill>
                  <a:srgbClr val="216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▧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6419088" y="2935224"/>
            <a:ext cx="4928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4764024"/>
            <a:ext cx="10853928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5E3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49651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dos resultados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858768" y="4956048"/>
            <a:ext cx="7196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 Norte: 76,92% de atraso   |   Sul: 40%   |   Centro: 22,22%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Manutenção: maior taxa de atraso entre os serviços (60%).</a:t>
            </a:r>
            <a:endParaRPr lang="en-US" sz="17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653A5A2-CBDA-D316-ED64-F797B9B71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589" y="1581020"/>
            <a:ext cx="5117654" cy="2919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C0BE6ED-F09D-5E57-33B0-D856B277B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779" y="1517905"/>
            <a:ext cx="5056632" cy="2999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169D5"/>
          </a:solidFill>
          <a:ln w="12700">
            <a:solidFill>
              <a:srgbClr val="2169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dados às decisões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92354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Conclusões, recomendações e reflexão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Desafio 01  •  Ciência de Dados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2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0936" y="1389888"/>
            <a:ext cx="534924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3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2763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Principais conclusões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86384" y="2011680"/>
            <a:ext cx="4983480" cy="235915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 concluídas; 33 com prazo avaliável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ultrapassaram o prazo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 Norte: taxa de atraso de 76,92%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Manutenção: taxa de atraso de 60%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ausentes afetam a confiabilidade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9632" y="1389888"/>
            <a:ext cx="534924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3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627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Decisões recomendadas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391656" y="2103120"/>
            <a:ext cx="4855464" cy="208483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237490" indent="-237490">
              <a:buSzPct val="100000"/>
              <a:buChar char="•"/>
            </a:pPr>
            <a:r>
              <a:rPr lang="en-US" sz="17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Investigar as causas dos atrasos no Norte</a:t>
            </a:r>
            <a:endParaRPr lang="en-US" sz="1700" dirty="0"/>
          </a:p>
          <a:p>
            <a:pPr marL="237490" indent="-237490">
              <a:buSzPct val="100000"/>
              <a:buChar char="•"/>
            </a:pPr>
            <a:r>
              <a:rPr lang="en-US" sz="17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gargalos em Manutenção</a:t>
            </a:r>
            <a:endParaRPr lang="en-US" sz="1700" dirty="0"/>
          </a:p>
          <a:p>
            <a:pPr marL="237490" indent="-237490">
              <a:buSzPct val="100000"/>
              <a:buChar char="•"/>
            </a:pPr>
            <a:r>
              <a:rPr lang="en-US" sz="17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Monitorar indicadores periodicamente</a:t>
            </a:r>
            <a:endParaRPr lang="en-US" sz="1700" dirty="0"/>
          </a:p>
          <a:p>
            <a:pPr marL="237490" indent="-237490">
              <a:buSzPct val="100000"/>
              <a:buChar char="•"/>
            </a:pPr>
            <a:r>
              <a:rPr lang="en-US" sz="1700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Melhorar a qualidade dos registros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0936" y="4882896"/>
            <a:ext cx="10917936" cy="1207008"/>
          </a:xfrm>
          <a:prstGeom prst="roundRect">
            <a:avLst>
              <a:gd name="adj" fmla="val 11364"/>
            </a:avLst>
          </a:prstGeom>
          <a:solidFill>
            <a:srgbClr val="E9F2FF"/>
          </a:solidFill>
          <a:ln w="12700">
            <a:solidFill>
              <a:srgbClr val="D5E3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50749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16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REFLEXÃO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331720" y="5056632"/>
            <a:ext cx="8851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i="1" dirty="0">
                <a:solidFill>
                  <a:srgbClr val="0C2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Após organizar e padronizar os dados, registros isolados se tornaram indicadores úteis para apoiar decisões.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388</Words>
  <Application>Microsoft Office PowerPoint</Application>
  <PresentationFormat>Widescreen</PresentationFormat>
  <Paragraphs>85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Aptos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de Produtividade em Telecomunicações</dc:title>
  <dc:subject>Desafio 01 - Tratamento de Dados</dc:subject>
  <dc:creator>OpenAI</dc:creator>
  <cp:lastModifiedBy>Ana Patrícia Braga Garros</cp:lastModifiedBy>
  <cp:revision>2</cp:revision>
  <dcterms:created xsi:type="dcterms:W3CDTF">2026-10-22T18:50:49Z</dcterms:created>
  <dcterms:modified xsi:type="dcterms:W3CDTF">2026-10-22T19:00:57Z</dcterms:modified>
</cp:coreProperties>
</file>